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0"/>
  </p:notesMasterIdLst>
  <p:sldIdLst>
    <p:sldId id="256" r:id="rId2"/>
    <p:sldId id="264" r:id="rId3"/>
    <p:sldId id="258" r:id="rId4"/>
    <p:sldId id="257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64"/>
  </p:normalViewPr>
  <p:slideViewPr>
    <p:cSldViewPr snapToGrid="0">
      <p:cViewPr varScale="1">
        <p:scale>
          <a:sx n="149" d="100"/>
          <a:sy n="149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B4232-34A9-A244-9C90-BAE129A13FC4}" type="datetimeFigureOut">
              <a:rPr lang="en-US" smtClean="0"/>
              <a:t>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4084B-A780-E94E-A8D7-D29004425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2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4084B-A780-E94E-A8D7-D290044256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0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17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99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5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54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9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4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2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1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4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1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1/30/25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7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learn/render-and-commi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react.dev/reference/react/useCallbac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eact.dev/reference/react/useCallback#should-you-add-usecallback-everywhere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react.dev/learn/lifecycle-of-reactive-effects#all-variables-declared-in-the-component-body-are-reactive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/hooks#performance-hooks" TargetMode="External"/><Relationship Id="rId2" Type="http://schemas.openxmlformats.org/officeDocument/2006/relationships/hyperlink" Target="https://react.dev/reference/react/useMemo#memoizing-a-function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react.dev/learn/synchronizing-with-effec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structure">
            <a:extLst>
              <a:ext uri="{FF2B5EF4-FFF2-40B4-BE49-F238E27FC236}">
                <a16:creationId xmlns:a16="http://schemas.microsoft.com/office/drawing/2014/main" id="{A18F8DDE-D5B7-C5F4-F9BF-670ECE3C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948"/>
          <a:stretch/>
        </p:blipFill>
        <p:spPr>
          <a:xfrm>
            <a:off x="-4" y="-16897"/>
            <a:ext cx="12192003" cy="6884632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4083" y="1474755"/>
            <a:ext cx="3943552" cy="3927961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A3EDE-58D9-9C8B-DDF2-797BD43E8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7856" y="2209316"/>
            <a:ext cx="3069083" cy="1945523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/>
              <a:t>A Dive Into React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DC741-1134-6E4B-02B7-17558944A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7855" y="4161030"/>
            <a:ext cx="3069083" cy="927420"/>
          </a:xfrm>
        </p:spPr>
        <p:txBody>
          <a:bodyPr anchor="ctr">
            <a:normAutofit/>
          </a:bodyPr>
          <a:lstStyle/>
          <a:p>
            <a:pPr algn="l"/>
            <a:endParaRPr lang="en-US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748256A-88AC-4254-406B-0E8EE2CC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5334" y="1940933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76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65006-3D50-8A68-601B-0DCF925A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Phases of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A4E4-0139-17C8-5AF7-E567017FE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 phase (includes reconciliation)</a:t>
            </a:r>
          </a:p>
          <a:p>
            <a:pPr lvl="1"/>
            <a:r>
              <a:rPr lang="en-US" sz="1600" dirty="0"/>
              <a:t>“Rendering” is React calling your components</a:t>
            </a:r>
          </a:p>
          <a:p>
            <a:pPr lvl="1"/>
            <a:r>
              <a:rPr lang="en-US" sz="1600" dirty="0"/>
              <a:t>Call component function and build virtual DOM</a:t>
            </a:r>
          </a:p>
          <a:p>
            <a:pPr lvl="1"/>
            <a:r>
              <a:rPr lang="en-US" sz="1600" dirty="0"/>
              <a:t>Compute the diff</a:t>
            </a:r>
          </a:p>
          <a:p>
            <a:pPr lvl="1"/>
            <a:r>
              <a:rPr lang="en-US" sz="1600" dirty="0"/>
              <a:t>Synchronous</a:t>
            </a:r>
          </a:p>
          <a:p>
            <a:r>
              <a:rPr lang="en-US" sz="1800" dirty="0"/>
              <a:t>Commit phase</a:t>
            </a:r>
          </a:p>
          <a:p>
            <a:pPr lvl="1"/>
            <a:r>
              <a:rPr lang="en-US" sz="1600" dirty="0"/>
              <a:t>Applies necessary changes to real DOM</a:t>
            </a:r>
          </a:p>
          <a:p>
            <a:pPr lvl="1"/>
            <a:r>
              <a:rPr lang="en-US" sz="1600" dirty="0"/>
              <a:t>Paint the screen</a:t>
            </a:r>
          </a:p>
          <a:p>
            <a:pPr lvl="1"/>
            <a:r>
              <a:rPr lang="en-US" sz="1600" dirty="0"/>
              <a:t>Run previous effect cleanup functions</a:t>
            </a:r>
          </a:p>
          <a:p>
            <a:pPr lvl="1"/>
            <a:r>
              <a:rPr lang="en-US" sz="1600" dirty="0"/>
              <a:t>Run new effect callbacks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C2D9-9488-9AC5-54BF-072F1649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5E743-0858-82B0-55B5-35586F9C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433B7-BA7B-D5E9-6F34-7BADD488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9B9DA3-50E6-6ED3-2308-7A7807CC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345" y="2157984"/>
            <a:ext cx="6401204" cy="21710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2AE64-AC1A-F638-640D-7572BB614408}"/>
              </a:ext>
            </a:extLst>
          </p:cNvPr>
          <p:cNvSpPr txBox="1"/>
          <p:nvPr/>
        </p:nvSpPr>
        <p:spPr>
          <a:xfrm>
            <a:off x="8914947" y="4329043"/>
            <a:ext cx="1282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react.dev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2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3826-807F-24D1-4606-82822355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761584"/>
          </a:xfrm>
        </p:spPr>
        <p:txBody>
          <a:bodyPr/>
          <a:lstStyle/>
          <a:p>
            <a:pPr algn="ctr"/>
            <a:r>
              <a:rPr lang="en-US" dirty="0"/>
              <a:t>What Triggers a Re-Render?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16A7-41CD-0321-7A52-3453FDE2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9744" y="1861051"/>
            <a:ext cx="4977453" cy="4017787"/>
          </a:xfrm>
        </p:spPr>
        <p:txBody>
          <a:bodyPr/>
          <a:lstStyle/>
          <a:p>
            <a:r>
              <a:rPr lang="en-US" dirty="0"/>
              <a:t>3 main triggers</a:t>
            </a:r>
          </a:p>
          <a:p>
            <a:pPr lvl="1"/>
            <a:r>
              <a:rPr lang="en-US" sz="1600" dirty="0"/>
              <a:t>State</a:t>
            </a:r>
          </a:p>
          <a:p>
            <a:pPr lvl="1"/>
            <a:r>
              <a:rPr lang="en-US" sz="1600" dirty="0"/>
              <a:t>Props (Parent -&gt; child components)</a:t>
            </a:r>
          </a:p>
          <a:p>
            <a:pPr lvl="1"/>
            <a:r>
              <a:rPr lang="en-US" sz="1600" dirty="0"/>
              <a:t>Context </a:t>
            </a:r>
          </a:p>
          <a:p>
            <a:r>
              <a:rPr lang="en-US" dirty="0"/>
              <a:t>Re-render != repainting</a:t>
            </a:r>
          </a:p>
          <a:p>
            <a:r>
              <a:rPr lang="en-US" dirty="0"/>
              <a:t>Which operation costs more?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82DCB4-83AA-EC6F-2899-AA0A347DB2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27837" y="1861051"/>
            <a:ext cx="4986338" cy="143377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5F508-D98E-6D30-897F-F288A409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6D16F-FFCE-7BF7-726A-0C799A9C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8D158-F8BF-F9C1-2698-93026377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7F6EA-B2AC-5919-67E3-3CAEC76AADFF}"/>
              </a:ext>
            </a:extLst>
          </p:cNvPr>
          <p:cNvSpPr txBox="1"/>
          <p:nvPr/>
        </p:nvSpPr>
        <p:spPr>
          <a:xfrm>
            <a:off x="8152935" y="3294822"/>
            <a:ext cx="1754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Img</a:t>
            </a:r>
            <a:r>
              <a:rPr lang="en-US" sz="1200" dirty="0"/>
              <a:t> from ChatGPT</a:t>
            </a:r>
          </a:p>
        </p:txBody>
      </p:sp>
    </p:spTree>
    <p:extLst>
      <p:ext uri="{BB962C8B-B14F-4D97-AF65-F5344CB8AC3E}">
        <p14:creationId xmlns:p14="http://schemas.microsoft.com/office/powerpoint/2010/main" val="183979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4E43-6201-3CCC-62F5-191200E5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170589"/>
            <a:ext cx="10449784" cy="650505"/>
          </a:xfrm>
        </p:spPr>
        <p:txBody>
          <a:bodyPr anchor="b">
            <a:normAutofit/>
          </a:bodyPr>
          <a:lstStyle/>
          <a:p>
            <a:pPr algn="ctr"/>
            <a:r>
              <a:rPr lang="en-US" dirty="0" err="1"/>
              <a:t>React’s</a:t>
            </a:r>
            <a:r>
              <a:rPr lang="en-US" dirty="0"/>
              <a:t> Reconciliation Process (Render Phase)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CFB-A130-D7DE-F08F-5EC952E89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1108" y="1272767"/>
            <a:ext cx="4977453" cy="4017787"/>
          </a:xfrm>
        </p:spPr>
        <p:txBody>
          <a:bodyPr>
            <a:normAutofit/>
          </a:bodyPr>
          <a:lstStyle/>
          <a:p>
            <a:r>
              <a:rPr lang="en-US" dirty="0"/>
              <a:t>React creates a new Virtual Dom tree (just JS objects!)</a:t>
            </a:r>
          </a:p>
          <a:p>
            <a:r>
              <a:rPr lang="en-US" dirty="0"/>
              <a:t>Compares the new Virtual DOM with previous one (diffing)</a:t>
            </a:r>
          </a:p>
          <a:p>
            <a:r>
              <a:rPr lang="en-US" dirty="0"/>
              <a:t>Updates only the changed parts in real DOM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14FBF-A500-4C1D-7FB4-90A6F997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63D2A-18A6-9A53-9FB2-3DE6BF63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2320" y="6356350"/>
            <a:ext cx="429768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A8B8-BB9B-B8FC-9119-6F615680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6AC56-1D1F-F54A-EA65-10644C1F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1272767"/>
            <a:ext cx="6413500" cy="1790700"/>
          </a:xfrm>
          <a:prstGeom prst="rect">
            <a:avLst/>
          </a:prstGeom>
        </p:spPr>
      </p:pic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01644565-1915-688E-6044-A141B185C9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59285" y="3281660"/>
            <a:ext cx="4986338" cy="29331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666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FCF5-2CF9-BE34-70B6-830AD2B5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353966"/>
            <a:ext cx="10449784" cy="787709"/>
          </a:xfrm>
        </p:spPr>
        <p:txBody>
          <a:bodyPr/>
          <a:lstStyle/>
          <a:p>
            <a:pPr algn="ctr"/>
            <a:r>
              <a:rPr lang="en-US" dirty="0"/>
              <a:t>Optimization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EBBD-5D4C-8337-9246-8188263BD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283" y="1857258"/>
            <a:ext cx="4977453" cy="4017787"/>
          </a:xfrm>
        </p:spPr>
        <p:txBody>
          <a:bodyPr>
            <a:normAutofit/>
          </a:bodyPr>
          <a:lstStyle/>
          <a:p>
            <a:r>
              <a:rPr lang="en-US" dirty="0" err="1"/>
              <a:t>useMemo</a:t>
            </a:r>
            <a:r>
              <a:rPr lang="en-US" dirty="0"/>
              <a:t> - cache result of calculation between re-renders</a:t>
            </a:r>
          </a:p>
          <a:p>
            <a:r>
              <a:rPr lang="en-US" dirty="0" err="1"/>
              <a:t>useCallback</a:t>
            </a:r>
            <a:r>
              <a:rPr lang="en-US" dirty="0"/>
              <a:t> – cache a function definition</a:t>
            </a:r>
          </a:p>
          <a:p>
            <a:r>
              <a:rPr lang="en-US" dirty="0"/>
              <a:t>memo – allows skipping of a re-render when props are unchanged</a:t>
            </a:r>
          </a:p>
          <a:p>
            <a:r>
              <a:rPr lang="en-US" dirty="0"/>
              <a:t>Typically used in combination</a:t>
            </a:r>
          </a:p>
          <a:p>
            <a:r>
              <a:rPr lang="en-US" dirty="0"/>
              <a:t>Define static things in module scope</a:t>
            </a:r>
          </a:p>
          <a:p>
            <a:r>
              <a:rPr lang="en-US" dirty="0"/>
              <a:t>There are many other ways, but these are some of the most common and can apply to many use cases</a:t>
            </a:r>
          </a:p>
          <a:p>
            <a:r>
              <a:rPr lang="en-US" dirty="0"/>
              <a:t>Note! React Compiler is coming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978DBF-29F0-E484-9601-EFF32977C8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7" y="1857258"/>
            <a:ext cx="4986338" cy="192402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A3C7D-1B01-7DE1-C82C-8558ACA5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BF709-16FC-0461-5EF8-C9292D4D9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1F47C-761D-7F2D-BD2F-BA477970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5F6DA9-E880-7BED-9A4A-700C22002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36" y="3951025"/>
            <a:ext cx="6819900" cy="1765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57FA81-18BD-DB77-3BA5-5690C64DAB6F}"/>
              </a:ext>
            </a:extLst>
          </p:cNvPr>
          <p:cNvSpPr txBox="1"/>
          <p:nvPr/>
        </p:nvSpPr>
        <p:spPr>
          <a:xfrm>
            <a:off x="7313022" y="5716325"/>
            <a:ext cx="276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Images from </a:t>
            </a:r>
            <a:r>
              <a:rPr lang="en-US" sz="1200" dirty="0">
                <a:hlinkClick r:id="rId4"/>
              </a:rPr>
              <a:t>react docs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6809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DD68-C513-9BC8-F384-1B7F68D0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these techniques?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23F8E-BE14-7D2E-4DFD-2963F5C152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Profiler (React dev tools </a:t>
            </a:r>
            <a:r>
              <a:rPr lang="en-US" dirty="0" err="1"/>
              <a:t>ext</a:t>
            </a:r>
            <a:r>
              <a:rPr lang="en-US" dirty="0"/>
              <a:t>)</a:t>
            </a:r>
          </a:p>
          <a:p>
            <a:r>
              <a:rPr lang="en-US" dirty="0"/>
              <a:t>&lt;Profiler&gt; for programmatically</a:t>
            </a:r>
          </a:p>
          <a:p>
            <a:r>
              <a:rPr lang="en-US" dirty="0"/>
              <a:t>Technically there is nothing wrong with overuse. React even addresses that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  <a:p>
            <a:r>
              <a:rPr lang="en-US" dirty="0"/>
              <a:t>One negative impact may be readability</a:t>
            </a:r>
          </a:p>
          <a:p>
            <a:r>
              <a:rPr lang="en-US" dirty="0"/>
              <a:t>Make sure the techniques you implement are doing what you expect. Verify in Profiler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50F45A-3DE3-32C4-842B-3F65E4F490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46775" y="2159175"/>
            <a:ext cx="6075176" cy="159639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1BE0C-5F82-8D04-40D2-01E93BD2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E1FCE-848C-36BF-DE85-F21DB320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A4306-9C91-8F20-0EB7-73333AE8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A71A-CC19-BA9B-E855-0F362F59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98551"/>
            <a:ext cx="10449784" cy="674498"/>
          </a:xfrm>
        </p:spPr>
        <p:txBody>
          <a:bodyPr/>
          <a:lstStyle/>
          <a:p>
            <a:r>
              <a:rPr lang="en-US" dirty="0"/>
              <a:t>To be… or not to be… an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2FA88-3EEA-B58E-6324-94ACD0D75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1262743"/>
            <a:ext cx="4977453" cy="4914219"/>
          </a:xfrm>
        </p:spPr>
        <p:txBody>
          <a:bodyPr/>
          <a:lstStyle/>
          <a:p>
            <a:r>
              <a:rPr lang="en-US" dirty="0"/>
              <a:t>Data fetching is common in </a:t>
            </a:r>
            <a:r>
              <a:rPr lang="en-US" dirty="0" err="1"/>
              <a:t>useEffect</a:t>
            </a:r>
            <a:r>
              <a:rPr lang="en-US" dirty="0"/>
              <a:t> but has issues</a:t>
            </a:r>
          </a:p>
          <a:p>
            <a:pPr lvl="1"/>
            <a:r>
              <a:rPr lang="en-US" dirty="0"/>
              <a:t>Effect runs AFTER commit</a:t>
            </a:r>
          </a:p>
          <a:p>
            <a:pPr lvl="1"/>
            <a:r>
              <a:rPr lang="en-US" dirty="0"/>
              <a:t>Specific libraries and frameworks to handle this, react-query, react router, etc..</a:t>
            </a:r>
          </a:p>
          <a:p>
            <a:r>
              <a:rPr lang="en-US" dirty="0"/>
              <a:t>Handles side effects outside rendering calculation</a:t>
            </a:r>
          </a:p>
          <a:p>
            <a:r>
              <a:rPr lang="en-US" dirty="0"/>
              <a:t>Runs after EVERY render unless dep array provided. </a:t>
            </a:r>
          </a:p>
          <a:p>
            <a:pPr lvl="1"/>
            <a:r>
              <a:rPr lang="en-US" dirty="0"/>
              <a:t>Refs and set functions have stable identity</a:t>
            </a:r>
          </a:p>
          <a:p>
            <a:pPr lvl="1"/>
            <a:r>
              <a:rPr lang="en-US" dirty="0"/>
              <a:t>Caveat – refs passed from a parent</a:t>
            </a:r>
          </a:p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Reactive values</a:t>
            </a:r>
            <a:r>
              <a:rPr lang="en-US" dirty="0"/>
              <a:t> include props and all variables and functions declared directly inside of your component</a:t>
            </a:r>
          </a:p>
          <a:p>
            <a:r>
              <a:rPr lang="en-US" dirty="0"/>
              <a:t>Logic that should only run once when application starts can be outside your components (module initialization level) but don’t overuse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85E1AE-CC8E-0426-D7FB-D3A07AD925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04264" y="1262743"/>
            <a:ext cx="4986338" cy="29608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D9B34-60BB-67AD-1135-3783FEB4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78473-665D-0A42-9BB8-351A1909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9BC8-4574-2387-BFF2-7D5D4C0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706E-3134-9A0C-6C56-ABD647186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0D170-017D-975D-C468-12A370C430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Images and code snippets courtesy of ChatGPT</a:t>
            </a:r>
          </a:p>
          <a:p>
            <a:r>
              <a:rPr lang="en-US" dirty="0">
                <a:hlinkClick r:id="rId2"/>
              </a:rPr>
              <a:t>https://react.dev/reference/react/useMemo#memoizing-a-function</a:t>
            </a:r>
            <a:endParaRPr lang="en-US" dirty="0"/>
          </a:p>
          <a:p>
            <a:r>
              <a:rPr lang="en-US" dirty="0">
                <a:hlinkClick r:id="rId3"/>
              </a:rPr>
              <a:t>https://react.dev/reference/react/hooks#performance-hooks</a:t>
            </a:r>
            <a:endParaRPr lang="en-US" dirty="0"/>
          </a:p>
          <a:p>
            <a:r>
              <a:rPr lang="en-US" dirty="0">
                <a:hlinkClick r:id="rId4"/>
              </a:rPr>
              <a:t>https://react.dev/learn/synchronizing-with-effects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6D81F-E2A5-5070-80A9-4283C1AF45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439C7-B3D4-DDCB-B28A-A554FEB5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95C09-1B94-A5FE-9B78-0800D8E4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FBF7A-6095-4832-6033-D7CC4921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86780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427</Words>
  <Application>Microsoft Macintosh PowerPoint</Application>
  <PresentationFormat>Widescreen</PresentationFormat>
  <Paragraphs>77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Light</vt:lpstr>
      <vt:lpstr>Arial</vt:lpstr>
      <vt:lpstr>Walbaum Display</vt:lpstr>
      <vt:lpstr>BohoVogueVTI</vt:lpstr>
      <vt:lpstr>A Dive Into React</vt:lpstr>
      <vt:lpstr>The Two Phases of React</vt:lpstr>
      <vt:lpstr>What Triggers a Re-Render?</vt:lpstr>
      <vt:lpstr>React’s Reconciliation Process (Render Phase)</vt:lpstr>
      <vt:lpstr>Optimization Techniques</vt:lpstr>
      <vt:lpstr>When to use these techniques?</vt:lpstr>
      <vt:lpstr>To be… or not to be… an Effect</vt:lpstr>
      <vt:lpstr>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Garcia</dc:creator>
  <cp:lastModifiedBy>Alexander Garcia</cp:lastModifiedBy>
  <cp:revision>1</cp:revision>
  <dcterms:created xsi:type="dcterms:W3CDTF">2025-01-30T18:30:01Z</dcterms:created>
  <dcterms:modified xsi:type="dcterms:W3CDTF">2025-01-31T17:03:32Z</dcterms:modified>
</cp:coreProperties>
</file>