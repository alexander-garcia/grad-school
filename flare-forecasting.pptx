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62" r:id="rId3"/>
    <p:sldId id="288" r:id="rId4"/>
    <p:sldId id="289" r:id="rId5"/>
    <p:sldId id="290" r:id="rId6"/>
    <p:sldId id="258" r:id="rId7"/>
    <p:sldId id="291" r:id="rId8"/>
    <p:sldId id="292" r:id="rId9"/>
    <p:sldId id="293" r:id="rId10"/>
    <p:sldId id="294" r:id="rId11"/>
    <p:sldId id="295" r:id="rId12"/>
    <p:sldId id="296" r:id="rId13"/>
    <p:sldId id="298" r:id="rId14"/>
    <p:sldId id="297" r:id="rId15"/>
    <p:sldId id="299" r:id="rId16"/>
    <p:sldId id="301" r:id="rId17"/>
    <p:sldId id="304" r:id="rId18"/>
    <p:sldId id="303" r:id="rId19"/>
    <p:sldId id="302" r:id="rId20"/>
    <p:sldId id="300" r:id="rId21"/>
    <p:sldId id="306" r:id="rId22"/>
    <p:sldId id="307" r:id="rId23"/>
    <p:sldId id="305" r:id="rId2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092"/>
  </p:normalViewPr>
  <p:slideViewPr>
    <p:cSldViewPr snapToGrid="0">
      <p:cViewPr varScale="1">
        <p:scale>
          <a:sx n="178" d="100"/>
          <a:sy n="178" d="100"/>
        </p:scale>
        <p:origin x="152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A2C23345-6C93-86C8-89F7-16ABBC81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AB7C880B-5957-753E-C995-2ECA5FD667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22B9B4B0-2B72-8C05-43A5-AD97A3BE0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46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BEC94A0-C073-1A0B-CBB9-B617D388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EB1EBFB4-2705-3A0F-7471-3BEF4B443A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60E8BE98-1CF9-9F8D-1557-BCF48A618A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13513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9BAF818-B6A0-6DE8-B0F0-6F228EE1F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FBDA6638-B1F7-F83F-4AA5-1E398D96A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071D53D1-FA0B-A960-4797-E7FEAEA17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/ sqrt (area box 1 x area box 2) &gt; 0.95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 is area of overlap of two boxes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above then ”merged cluster”</a:t>
            </a:r>
          </a:p>
        </p:txBody>
      </p:sp>
    </p:spTree>
    <p:extLst>
      <p:ext uri="{BB962C8B-B14F-4D97-AF65-F5344CB8AC3E}">
        <p14:creationId xmlns:p14="http://schemas.microsoft.com/office/powerpoint/2010/main" val="3477487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1218abac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1218abac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4F55B30-3DC9-1746-D0A4-09576CF1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C7D3AE9A-87B3-B49D-D7E2-C33599C0DC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F923533A-4429-324F-0AE0-393BE87FEB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9385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EAF9D70-4ACF-A278-B79D-B6F2510B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C4296C37-88F6-CC86-ED23-E6AC03F39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B6823373-13F5-6F6D-2D91-04F4E9299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781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E1CCC402-487A-76EC-67E6-0C55163BD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4A02E026-2224-6DE6-E32B-4C4EE5A918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05785AE6-E4E9-9CA1-8D06-F308AB4FA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P_f</a:t>
            </a:r>
            <a:r>
              <a:rPr lang="en-US" dirty="0"/>
              <a:t> – forecast probability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 – observed outcome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2948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D4889C1-4AAB-599D-0886-81890A21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2EB500D6-D40C-3CD0-B2E8-1EC782D92A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65164D38-84CA-688C-A22C-D890E15E2E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6327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959CEDC-9BDD-02BE-1B1C-A7B141A7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0EB45413-FB07-C333-1A7B-CD9B59602E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4A6424FD-4FBE-12C6-6BA8-BDB173B5D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305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A88279E-5580-7F86-1586-A7C7D5514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BA82B183-75BE-2869-D5FC-D60BDB48C5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94B9EAC8-2997-FF26-7C1C-4276ABC2E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1456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8975CB09-F9BC-ED0B-FD2B-6D818C91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9D542348-BA70-0A03-855B-2C8106AFE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B11C9D8D-C547-A357-C4E0-326BDC5938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notes: FITS take note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8438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FDD09DE-D880-2BFA-A061-4AB30634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3FA994C4-9718-FDCF-FE54-7EFC2A11B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1A1E2419-9764-1D24-F09C-6D1C56060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NPDA – nonparametric discriminant analysis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486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06F482F-AF55-D157-38F6-DF7BB2DC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C2079164-B176-EC26-F931-080F85E46E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DFA0B9EB-1515-39A9-F578-41A8230544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5669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0E9D8AFE-3C0F-E8EE-90D2-29C7E9440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AC908F07-B840-EB48-CE15-0402887A8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9809B419-B516-D4BD-73C5-358D86759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0315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C0A1500D-3457-F7A4-C853-027EDD92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AAEB39B5-8C1C-5651-5112-B00A160A8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4BBF829F-8A02-5D79-8B65-1794EEEF7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97009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B91A699C-1997-5CBE-E7D8-4B0AA390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C9501DFA-8356-DDF7-D210-CB84DF1249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E9EF3088-D4BE-5EF1-529F-ECB415E931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0612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07D0B1C-0993-83C8-5128-E3476A6C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701C5F20-38AB-F8D2-32C9-E191E4D73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BD3891C9-6634-8297-46C8-143829821D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222751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4EA1EF03-4641-52C6-19F6-F04550F20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DBDC910D-D83A-B51D-3A0B-B3A472A1DC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603E9FF6-89BE-D3E7-3B25-0F4881CF4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89838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DE1E4DB-BC0A-B42C-E6AB-A1B3F82A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52447C5F-211D-0B29-72DB-811E3D310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CBF587B3-A857-883C-CB2C-B7761AD53C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Restricted means close to central meridian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– full disk – most popular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Earth impacting – not yet visible but expected regions (new or returning) - forecasting for anything impactful even from regions that are not yet or no longer visible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3488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52453B83-4D29-BCBE-FAA6-A9A94C0B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BEC21239-2F61-E39D-C260-023C4401F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56D879A4-E042-02AF-975C-C8E430A0DF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Restricted means close to central meridian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– full disk – most popular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Earth impacting – not yet visible but expected regions (new or returning) - forecasting for anything impactful even from regions that are not yet or no longer visible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6882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F22A9F67-7EB6-7FE9-0A21-E0820E88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ae7f0fd_0_44:notes">
            <a:extLst>
              <a:ext uri="{FF2B5EF4-FFF2-40B4-BE49-F238E27FC236}">
                <a16:creationId xmlns:a16="http://schemas.microsoft.com/office/drawing/2014/main" id="{CCEF67E9-8A4F-BEEC-C3FE-D0D635E1F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ae7f0fd_0_44:notes">
            <a:extLst>
              <a:ext uri="{FF2B5EF4-FFF2-40B4-BE49-F238E27FC236}">
                <a16:creationId xmlns:a16="http://schemas.microsoft.com/office/drawing/2014/main" id="{76EBA1EC-5668-4008-F2FB-F3A925D898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9650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1115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3500" dirty="0"/>
              <a:t>Comparison of Flare Forecasting Methods</a:t>
            </a:r>
            <a:endParaRPr sz="35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52960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98" dirty="0"/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13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Focus of the workshop</a:t>
            </a:r>
            <a:endParaRPr dirty="0"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Workshop was in 2009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Focus of workshop was on “all-clear” forecasts</a:t>
            </a:r>
          </a:p>
          <a:p>
            <a:pPr lvl="1" indent="-342900">
              <a:buSzPts val="1800"/>
              <a:buChar char="●"/>
            </a:pPr>
            <a:r>
              <a:rPr lang="en-US" dirty="0"/>
              <a:t>Predicting time intervals during which no flares occur</a:t>
            </a:r>
          </a:p>
          <a:p>
            <a:r>
              <a:rPr lang="en-US" dirty="0"/>
              <a:t>Results presented focus on comparing flare predictions</a:t>
            </a:r>
          </a:p>
          <a:p>
            <a:pPr lvl="1"/>
            <a:r>
              <a:rPr lang="en-US" dirty="0"/>
              <a:t>Most forecasting methods focus on predicting probability a flare will occur</a:t>
            </a:r>
          </a:p>
          <a:p>
            <a:pPr lvl="1"/>
            <a:r>
              <a:rPr lang="en-US" dirty="0"/>
              <a:t>Not specific to all-clear forecasts</a:t>
            </a:r>
          </a:p>
          <a:p>
            <a:endParaRPr lang="en-US" dirty="0"/>
          </a:p>
        </p:txBody>
      </p:sp>
      <p:sp>
        <p:nvSpPr>
          <p:cNvPr id="123" name="Google Shape;123;p19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4470167-4CD0-A502-BEA9-1B377B0C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BCD218A-C26D-F254-23D6-3F8A67D0A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976E5DF2-91DF-8781-2A0C-90D43DCC7A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From Solar and </a:t>
            </a:r>
            <a:r>
              <a:rPr lang="en-US" dirty="0" err="1"/>
              <a:t>Heliospheric</a:t>
            </a:r>
            <a:r>
              <a:rPr lang="en-US" dirty="0"/>
              <a:t> Observatory / Michelson Doppler Imager</a:t>
            </a:r>
          </a:p>
          <a:p>
            <a:pPr lvl="1" indent="-342900">
              <a:buSzPts val="1800"/>
              <a:buChar char="●"/>
            </a:pPr>
            <a:r>
              <a:rPr lang="en-US" dirty="0"/>
              <a:t>(SOHO/ MDI)</a:t>
            </a:r>
          </a:p>
          <a:p>
            <a:pPr lvl="1" indent="-342900">
              <a:buSzPts val="1800"/>
              <a:buChar char="●"/>
            </a:pPr>
            <a:r>
              <a:rPr lang="en-US" dirty="0"/>
              <a:t>Contains sub-areas extracted from full-disk magnetogram and continuum images</a:t>
            </a:r>
          </a:p>
          <a:p>
            <a:pPr lvl="1" indent="-342900">
              <a:buSzPts val="1800"/>
              <a:buChar char="●"/>
            </a:pPr>
            <a:r>
              <a:rPr lang="en-US" dirty="0"/>
              <a:t>FITS format</a:t>
            </a:r>
          </a:p>
          <a:p>
            <a:r>
              <a:rPr lang="en-US" dirty="0"/>
              <a:t>Data was for particular time and particular active region</a:t>
            </a:r>
          </a:p>
          <a:p>
            <a:pPr lvl="1"/>
            <a:r>
              <a:rPr lang="en-US" dirty="0"/>
              <a:t>”single snapshots” and do not include evolution of active region</a:t>
            </a:r>
          </a:p>
          <a:p>
            <a:pPr lvl="1"/>
            <a:r>
              <a:rPr lang="en-US" dirty="0"/>
              <a:t>Data was not ideal for many methods</a:t>
            </a:r>
          </a:p>
          <a:p>
            <a:r>
              <a:rPr lang="en-US" dirty="0"/>
              <a:t>Line-of-sight magnetic field data for years 2000-2005 inclusive</a:t>
            </a:r>
          </a:p>
          <a:p>
            <a:r>
              <a:rPr lang="en-US" dirty="0"/>
              <a:t>Participants use their own methods to make predictions from the data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37E12A58-173F-78B1-BBAC-0B7DDE8D9E48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978A6D0-B27D-3A16-0B2C-19B6000992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49968D25-0A36-A9D5-FF34-085E8252E6C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429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36F157E9-C749-FEBC-F20F-035BEBB4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AC6114C-2441-2EE6-DEFA-FB0C6E7A65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extraction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7F20FBDA-404A-C4EC-D69B-8CA63267FD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r>
              <a:rPr lang="en-US" dirty="0"/>
              <a:t>Daily magnetogram + continuum images near </a:t>
            </a:r>
            <a:r>
              <a:rPr lang="en-US" b="1" dirty="0"/>
              <a:t>~12:45–13:00 UT</a:t>
            </a:r>
            <a:r>
              <a:rPr lang="en-US" dirty="0"/>
              <a:t>.</a:t>
            </a:r>
          </a:p>
          <a:p>
            <a:r>
              <a:rPr lang="en-US" dirty="0"/>
              <a:t>Active region coordinates taken from </a:t>
            </a:r>
            <a:r>
              <a:rPr lang="en-US" b="1" dirty="0"/>
              <a:t>NOAA daily reports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National Oceanic and Atmospheric Administration</a:t>
            </a:r>
          </a:p>
          <a:p>
            <a:r>
              <a:rPr lang="en-US" dirty="0"/>
              <a:t>Regions extracted as </a:t>
            </a:r>
            <a:r>
              <a:rPr lang="en-US" b="1" dirty="0"/>
              <a:t>rectangular patches</a:t>
            </a:r>
            <a:r>
              <a:rPr lang="en-US" dirty="0"/>
              <a:t>, size scaled by region area and disk position.</a:t>
            </a:r>
          </a:p>
          <a:p>
            <a:r>
              <a:rPr lang="en-US" dirty="0"/>
              <a:t>Overlapping extracted boxes merged into a </a:t>
            </a:r>
            <a:r>
              <a:rPr lang="en-US" b="1" dirty="0"/>
              <a:t>single cluster</a:t>
            </a:r>
            <a:r>
              <a:rPr lang="en-US" dirty="0"/>
              <a:t> if overlap &gt;95% of combined area.</a:t>
            </a:r>
          </a:p>
          <a:p>
            <a:r>
              <a:rPr lang="en-US" dirty="0"/>
              <a:t>Merging restricted to </a:t>
            </a:r>
            <a:r>
              <a:rPr lang="en-US" b="1" dirty="0"/>
              <a:t>same hemisphere</a:t>
            </a:r>
            <a:r>
              <a:rPr lang="en-US" dirty="0"/>
              <a:t>.</a:t>
            </a:r>
          </a:p>
          <a:p>
            <a:r>
              <a:rPr lang="en-US" dirty="0"/>
              <a:t>Manual intervention used in rare cases to avoid “full-Sun” clusters.</a:t>
            </a:r>
          </a:p>
          <a:p>
            <a:pPr lvl="1"/>
            <a:r>
              <a:rPr lang="en-US" dirty="0"/>
              <a:t>In practice, fewer than 10 cases of this</a:t>
            </a:r>
          </a:p>
          <a:p>
            <a:r>
              <a:rPr lang="en-US" dirty="0"/>
              <a:t>In total, 12,965 data points (daily extracted magnetograms) between 2000-2005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01D42ED9-1623-B6E9-D7B0-204DF97EBEA6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92D6966-C9A0-0A86-0A38-85BBAACC53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28346323-6BB0-9712-D237-6044F121ACF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9687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9B4081B7-A7F4-5795-1F8C-4719C1EF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142BDD1-3BA0-7936-6064-8C212519FB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extraction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63EBB-61A9-2C35-F20F-B04579B69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51152"/>
            <a:ext cx="3876166" cy="3698218"/>
          </a:xfrm>
          <a:prstGeom prst="rect">
            <a:avLst/>
          </a:prstGeom>
        </p:spPr>
      </p:pic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CC434A41-96FC-7604-9DBB-90C039F1DCC4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6D2DC0A0-A025-D358-5F17-A80003E21A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92845EBA-2926-607D-1D9F-33C8C299508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8D8D15-D01B-445B-36B4-07F76B9E5A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6470" y="1411633"/>
            <a:ext cx="4445830" cy="286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8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Event sample definitions</a:t>
            </a:r>
            <a:endParaRPr dirty="0"/>
          </a:p>
        </p:txBody>
      </p:sp>
      <p:sp>
        <p:nvSpPr>
          <p:cNvPr id="79" name="Google Shape;79;p15"/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0" name="Google Shape;80;p15" title="university logo-horizontal-1-line_WH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311700" y="1248942"/>
            <a:ext cx="8209200" cy="30248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600" dirty="0"/>
              <a:t>Three event thresholds</a:t>
            </a:r>
            <a:r>
              <a:rPr lang="en-US" sz="1200" dirty="0"/>
              <a:t>:</a:t>
            </a:r>
          </a:p>
          <a:p>
            <a:pPr lvl="1"/>
            <a:r>
              <a:rPr lang="en-US" sz="1200" b="1" dirty="0"/>
              <a:t>C1.0+ (24 </a:t>
            </a:r>
            <a:r>
              <a:rPr lang="en-US" sz="1200" b="1" dirty="0" err="1"/>
              <a:t>hr</a:t>
            </a:r>
            <a:r>
              <a:rPr lang="en-US" sz="1200" b="1" dirty="0"/>
              <a:t> window)</a:t>
            </a:r>
            <a:endParaRPr lang="en-US" sz="1200" dirty="0"/>
          </a:p>
          <a:p>
            <a:pPr lvl="1"/>
            <a:r>
              <a:rPr lang="en-US" sz="1200" b="1" dirty="0"/>
              <a:t>M1.0+ (12 </a:t>
            </a:r>
            <a:r>
              <a:rPr lang="en-US" sz="1200" b="1" dirty="0" err="1"/>
              <a:t>hr</a:t>
            </a:r>
            <a:r>
              <a:rPr lang="en-US" sz="1200" b="1" dirty="0"/>
              <a:t> window)</a:t>
            </a:r>
            <a:endParaRPr lang="en-US" sz="1200" dirty="0"/>
          </a:p>
          <a:p>
            <a:pPr lvl="1"/>
            <a:r>
              <a:rPr lang="en-US" sz="1200" b="1" dirty="0"/>
              <a:t>M5.0+ (12 </a:t>
            </a:r>
            <a:r>
              <a:rPr lang="en-US" sz="1200" b="1" dirty="0" err="1"/>
              <a:t>hr</a:t>
            </a:r>
            <a:r>
              <a:rPr lang="en-US" sz="1200" b="1" dirty="0"/>
              <a:t> window)</a:t>
            </a:r>
          </a:p>
          <a:p>
            <a:r>
              <a:rPr lang="en-US" sz="1600" dirty="0"/>
              <a:t>Constructed from flares recorded in NCEI archives</a:t>
            </a:r>
          </a:p>
          <a:p>
            <a:pPr lvl="1"/>
            <a:r>
              <a:rPr lang="en-US" sz="1200" dirty="0"/>
              <a:t>National Center for Environmental Information</a:t>
            </a:r>
          </a:p>
          <a:p>
            <a:r>
              <a:rPr lang="en-US" sz="1600" dirty="0"/>
              <a:t>Multiple flares in window count as a </a:t>
            </a:r>
            <a:r>
              <a:rPr lang="en-US" sz="1600" b="1" dirty="0"/>
              <a:t>single event</a:t>
            </a:r>
            <a:r>
              <a:rPr lang="en-US" sz="1600" dirty="0"/>
              <a:t>.</a:t>
            </a:r>
          </a:p>
          <a:p>
            <a:r>
              <a:rPr lang="en-US" sz="1600" dirty="0"/>
              <a:t>Event timing can cause rare </a:t>
            </a:r>
            <a:r>
              <a:rPr lang="en-US" sz="1600" b="1" dirty="0"/>
              <a:t>double-counting</a:t>
            </a:r>
            <a:r>
              <a:rPr lang="en-US" sz="1600" dirty="0"/>
              <a:t> when daily images are slightly offset.</a:t>
            </a:r>
          </a:p>
          <a:p>
            <a:r>
              <a:rPr lang="en-US" sz="1600" dirty="0"/>
              <a:t>Substantial fraction of small flares not associated with active region (~38% for all C)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0F12723-6B0B-76BE-D8A5-D3D3A2A6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E27C339C-1664-C3A5-C7AB-6F7F1A2059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Methods – generalized skill score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DC65DEE-6E63-C7B7-984A-51F6930D7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5360231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Compare forecasts to a </a:t>
            </a:r>
            <a:r>
              <a:rPr lang="en-US" b="1" dirty="0"/>
              <a:t>reference forecast</a:t>
            </a:r>
            <a:r>
              <a:rPr lang="en-US" dirty="0"/>
              <a:t>.</a:t>
            </a:r>
          </a:p>
          <a:p>
            <a:r>
              <a:rPr lang="en-US" dirty="0"/>
              <a:t>Normalize relative to:</a:t>
            </a:r>
          </a:p>
          <a:p>
            <a:pPr lvl="1"/>
            <a:r>
              <a:rPr lang="en-US" dirty="0" err="1"/>
              <a:t>A_perfect</a:t>
            </a:r>
            <a:r>
              <a:rPr lang="en-US" dirty="0"/>
              <a:t> → accuracy of a perfect system</a:t>
            </a:r>
          </a:p>
          <a:p>
            <a:pPr lvl="1"/>
            <a:r>
              <a:rPr lang="en-US" dirty="0" err="1"/>
              <a:t>A_reference</a:t>
            </a:r>
            <a:r>
              <a:rPr lang="en-US" dirty="0"/>
              <a:t> → accuracy of reference method</a:t>
            </a:r>
          </a:p>
          <a:p>
            <a:pPr lvl="1"/>
            <a:r>
              <a:rPr lang="en-US" dirty="0" err="1"/>
              <a:t>A_forecast</a:t>
            </a:r>
            <a:r>
              <a:rPr lang="en-US" dirty="0"/>
              <a:t> → accuracy of method under consideration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2ECBE396-DBE7-5CCB-FD3E-C9A07334C7CD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DC78DDBD-7D98-746B-9605-AB4BB8E822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9F20609A-B1B4-B666-5B75-8B1CCF86A6B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B30B1D-3FA0-F0F8-1E59-6CE07528D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800" y="1971675"/>
            <a:ext cx="31115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6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18A644FC-08ED-AC92-6FA2-456DE17D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DDBE9558-DA5E-E8D7-1C47-9109D93845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Evaluation methods – </a:t>
            </a:r>
            <a:r>
              <a:rPr lang="en-US" dirty="0" err="1"/>
              <a:t>ApSS</a:t>
            </a:r>
            <a:r>
              <a:rPr lang="en-US" dirty="0"/>
              <a:t>, HSS, TSS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D006035B-8F3F-EAFA-7B4C-C69415E61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For binary, categorical forecasts –</a:t>
            </a:r>
          </a:p>
          <a:p>
            <a:r>
              <a:rPr lang="en-US" dirty="0" err="1"/>
              <a:t>A_perfect</a:t>
            </a:r>
            <a:r>
              <a:rPr lang="en-US" dirty="0"/>
              <a:t> = 1</a:t>
            </a:r>
          </a:p>
          <a:p>
            <a:r>
              <a:rPr lang="en-US" dirty="0"/>
              <a:t>Appleman’s Skill Score (</a:t>
            </a:r>
            <a:r>
              <a:rPr lang="en-US" dirty="0" err="1"/>
              <a:t>ApSS</a:t>
            </a:r>
            <a:r>
              <a:rPr lang="en-US" dirty="0"/>
              <a:t>) –</a:t>
            </a:r>
          </a:p>
          <a:p>
            <a:pPr lvl="1"/>
            <a:r>
              <a:rPr lang="en-US" dirty="0"/>
              <a:t>Used when TP + FN &lt; TN + FP</a:t>
            </a:r>
          </a:p>
          <a:p>
            <a:r>
              <a:rPr lang="en-US" dirty="0"/>
              <a:t>HSS</a:t>
            </a:r>
          </a:p>
          <a:p>
            <a:r>
              <a:rPr lang="en-US" dirty="0"/>
              <a:t>TSS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8E4C5BC5-782F-17B5-74DA-004ED3CB502D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3285BD92-4292-9CCB-889D-FF612D032D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15430E86-6029-6467-1121-63606D43227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8E102F-10BC-5E53-EEC6-9E3A7DE63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66" y="1238615"/>
            <a:ext cx="2221969" cy="3102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ECBAB4-85C9-4CF5-E241-60EAEED4B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1866" y="1813063"/>
            <a:ext cx="1695726" cy="52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64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2C6C2892-52F6-71F6-8019-994C4A8B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B324B414-6455-0E2F-2900-E771A5ECEE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Measure of accuracy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BA54189C-6116-08EB-A391-F303834A5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Flare forecasting methods discussed here generally predict probability of flare of given class occurring, rather than binary, categorical forecast.</a:t>
            </a:r>
          </a:p>
          <a:p>
            <a:r>
              <a:rPr lang="en-US" dirty="0" err="1"/>
              <a:t>A_perfect</a:t>
            </a:r>
            <a:r>
              <a:rPr lang="en-US" dirty="0"/>
              <a:t> = 0 (MSE of 0)</a:t>
            </a:r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63299CD-7349-1487-74C3-EEBEB0DE6FC8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86E6A2C8-5A26-CBFA-BDB1-A083E4AB403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620247C5-CB27-BCEB-6CE2-3C913BD24D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23CA51-E8B7-3FB4-A4F3-5BE86BE71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2396159"/>
            <a:ext cx="4089400" cy="533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F6C7D5-9CF5-6517-C28C-591800A1A5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9221" y="2439091"/>
            <a:ext cx="2717800" cy="419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702EC8-4C2B-7B24-A23F-12F518E244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0850" y="3462734"/>
            <a:ext cx="40005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46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9ECE488-412E-8041-57C7-74104FDE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2DDF0391-9899-21DC-19C5-EFAA38BEF3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Probability thresholds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A005F7E6-7D4F-ADCA-2823-2ADBEC315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Due to probabilistic forecasts, need probability threshold to convert</a:t>
            </a:r>
          </a:p>
          <a:p>
            <a:r>
              <a:rPr lang="en-US" dirty="0"/>
              <a:t>Any forecast &gt; P_th = event</a:t>
            </a:r>
          </a:p>
          <a:p>
            <a:r>
              <a:rPr lang="en-US" dirty="0"/>
              <a:t>Poisson</a:t>
            </a:r>
          </a:p>
          <a:p>
            <a:pPr lvl="1"/>
            <a:r>
              <a:rPr lang="en-US" dirty="0"/>
              <a:t>threshold that depends on ratio FN / FP with FN / FP ~ 1 for HSS</a:t>
            </a:r>
          </a:p>
          <a:p>
            <a:pPr lvl="1"/>
            <a:r>
              <a:rPr lang="en-US" dirty="0"/>
              <a:t>FN / FP = </a:t>
            </a:r>
            <a:r>
              <a:rPr lang="en-US" dirty="0" err="1"/>
              <a:t>N_event</a:t>
            </a:r>
            <a:r>
              <a:rPr lang="en-US" dirty="0"/>
              <a:t> / </a:t>
            </a:r>
            <a:r>
              <a:rPr lang="en-US" dirty="0" err="1"/>
              <a:t>N_no_event</a:t>
            </a:r>
            <a:r>
              <a:rPr lang="en-US" dirty="0"/>
              <a:t> for TSS</a:t>
            </a:r>
          </a:p>
          <a:p>
            <a:r>
              <a:rPr lang="en-US" dirty="0"/>
              <a:t>Similar method for each combination of method, skill score, and event definition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1D86217D-D2E5-5AFF-BBD1-11B7045CC24B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20D31A05-0705-3D0D-1575-E69C8174BA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ACABF476-7027-298A-A2E4-26289DE380A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414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DC9B0766-88BB-59B1-1F84-A6DDC14B2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21D55A04-6365-8B86-9D6B-5D3772AAD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Prediction methods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60972FE3-F335-7557-256B-9AA754362C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Generally consists of two parts</a:t>
            </a:r>
          </a:p>
          <a:p>
            <a:pPr lvl="1"/>
            <a:r>
              <a:rPr lang="en-US" dirty="0"/>
              <a:t>Parameterization of observational solar data to characterize target active region</a:t>
            </a:r>
          </a:p>
          <a:p>
            <a:pPr lvl="2"/>
            <a:r>
              <a:rPr lang="en-US" dirty="0"/>
              <a:t>Calculating total magnetic flux, length of strong neutral lines, etc.,</a:t>
            </a:r>
          </a:p>
          <a:p>
            <a:pPr lvl="1"/>
            <a:r>
              <a:rPr lang="en-US" dirty="0"/>
              <a:t>Statistical method by which prior params or flaring activity was used</a:t>
            </a:r>
          </a:p>
          <a:p>
            <a:r>
              <a:rPr lang="en-US" dirty="0"/>
              <a:t>One end of the spectrum are methods based on McIntosh-like classification</a:t>
            </a:r>
          </a:p>
          <a:p>
            <a:pPr lvl="1"/>
            <a:r>
              <a:rPr lang="en-US" dirty="0"/>
              <a:t>Historical flaring rate used as look-up table</a:t>
            </a:r>
          </a:p>
          <a:p>
            <a:r>
              <a:rPr lang="en-US" dirty="0"/>
              <a:t>Machine learning techniques that do not employ a priori classifications</a:t>
            </a:r>
          </a:p>
          <a:p>
            <a:r>
              <a:rPr lang="en-US" dirty="0"/>
              <a:t>No attempt was explicitly made to combine parameterization by one group with predictions algorithm of another</a:t>
            </a:r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B81676FA-2A19-5058-A53A-268D104DF8DB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09BA53E2-9BD7-02EA-A584-A54B3ED1B7C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7038210B-9A44-891C-AE28-72A5A0069FE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2720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05523472-6D97-F541-B11B-2DAC90C33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D7320755-B090-D026-FB9B-82C84FB32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subsets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7B1390CE-A8DB-52F1-5DFB-1B7A1F0491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AD — All Data</a:t>
            </a:r>
            <a:endParaRPr lang="en-US" dirty="0"/>
          </a:p>
          <a:p>
            <a:pPr lvl="1"/>
            <a:r>
              <a:rPr lang="en-US" dirty="0"/>
              <a:t>Uses climatology when a method provides no forecast.</a:t>
            </a:r>
          </a:p>
          <a:p>
            <a:pPr lvl="1"/>
            <a:r>
              <a:rPr lang="en-US" dirty="0"/>
              <a:t>Ensures full coverage but penalizes methods that only forecast on small subsets.</a:t>
            </a:r>
          </a:p>
          <a:p>
            <a:r>
              <a:rPr lang="en-US" b="1" dirty="0"/>
              <a:t>MCD#1 — Max Common Dataset (all methods except event-statistics)</a:t>
            </a:r>
            <a:endParaRPr lang="en-US" dirty="0"/>
          </a:p>
          <a:p>
            <a:pPr lvl="1"/>
            <a:r>
              <a:rPr lang="en-US" dirty="0"/>
              <a:t>Largest subset where all included methods provide forecasts.</a:t>
            </a:r>
          </a:p>
          <a:p>
            <a:pPr lvl="1"/>
            <a:r>
              <a:rPr lang="en-US" dirty="0"/>
              <a:t>Restrictions mostly geometric (e.g., disk-center distance).</a:t>
            </a:r>
          </a:p>
          <a:p>
            <a:pPr lvl="1"/>
            <a:r>
              <a:rPr lang="en-US" dirty="0"/>
              <a:t>Event rates similar to AD → similar underlying population.</a:t>
            </a:r>
          </a:p>
          <a:p>
            <a:r>
              <a:rPr lang="en-US" b="1" dirty="0"/>
              <a:t>MCD#2 — Max Common + Event-Statistics Requirements</a:t>
            </a:r>
            <a:endParaRPr lang="en-US" dirty="0"/>
          </a:p>
          <a:p>
            <a:pPr lvl="1"/>
            <a:r>
              <a:rPr lang="en-US" dirty="0"/>
              <a:t>Adds requirement of ≥10 prior events.</a:t>
            </a:r>
          </a:p>
          <a:p>
            <a:pPr lvl="1"/>
            <a:r>
              <a:rPr lang="en-US" dirty="0"/>
              <a:t>Produces very different population (event rates change up to ×10).</a:t>
            </a:r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277A6979-98EF-880C-789A-5252E36CE4D0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217F08C8-2D3C-BB0A-2C2A-B72456633B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F3ACAB05-61AD-5FB4-271C-55A05C8489F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84831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55671508-9973-EC32-906D-9D5519A69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8F322E36-2808-3972-58A8-136831F0B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subsets - impact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203EB9D-9C79-E3AA-7D20-8805D4725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Methods trained on AD may suffer when evaluated on MCDs.</a:t>
            </a:r>
          </a:p>
          <a:p>
            <a:r>
              <a:rPr lang="en-US" dirty="0"/>
              <a:t>MCD#1 is relatively consistent with AD → minimal population shift.</a:t>
            </a:r>
          </a:p>
          <a:p>
            <a:r>
              <a:rPr lang="en-US" dirty="0"/>
              <a:t>MCD#2 introduces major sampling bias, especially for small events.</a:t>
            </a:r>
          </a:p>
          <a:p>
            <a:r>
              <a:rPr lang="en-US" dirty="0"/>
              <a:t>Despite population differences, performance is shown for all three to illustrate these effects.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13C7783F-EA5F-9C8A-90DB-B214B2DB7BA9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12DC40F-4532-2475-7729-401F7BB3CD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AE1E8DE7-B2C2-E4E1-C52A-BEB8185A4D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8EDBB-E9BE-F098-CD2B-52077ABC60F4}"/>
              </a:ext>
            </a:extLst>
          </p:cNvPr>
          <p:cNvSpPr txBox="1"/>
          <p:nvPr/>
        </p:nvSpPr>
        <p:spPr>
          <a:xfrm>
            <a:off x="3207026" y="8282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602910-2EFC-7589-C171-F00D613684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91717"/>
            <a:ext cx="7772400" cy="159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8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63917C2A-28ED-03AC-56ED-79E08D22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27AA889D-1000-2DA9-C6BF-5B39FCC5B9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performance comparison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52CC04-0CBE-1DC6-19B5-F8F3690E8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639" y="1270788"/>
            <a:ext cx="7772400" cy="2785651"/>
          </a:xfrm>
          <a:prstGeom prst="rect">
            <a:avLst/>
          </a:prstGeom>
        </p:spPr>
      </p:pic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9DF7FF7B-282E-1825-3CEC-35E20FE42D12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9BE5AB70-9676-48D8-EEFC-C1C7A51F85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BB2DC795-DD49-E430-027F-A914AB923E9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F60781-F2F4-3503-502B-0D43A603791D}"/>
              </a:ext>
            </a:extLst>
          </p:cNvPr>
          <p:cNvSpPr txBox="1"/>
          <p:nvPr/>
        </p:nvSpPr>
        <p:spPr>
          <a:xfrm>
            <a:off x="3207026" y="8282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43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A054D30-2DFA-7A12-DA16-A7FDCE763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F869573-0505-8355-0DDB-F29A09D00D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Model performance comparison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1180C0A3-04C8-8662-D25F-41C7394DF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Tendency for ML algorithms to produce best categorical forecasts (high </a:t>
            </a:r>
            <a:r>
              <a:rPr lang="en-US" dirty="0" err="1"/>
              <a:t>ApSS</a:t>
            </a:r>
            <a:r>
              <a:rPr lang="en-US" dirty="0"/>
              <a:t>)</a:t>
            </a:r>
          </a:p>
          <a:p>
            <a:r>
              <a:rPr lang="en-US" dirty="0"/>
              <a:t>Nonparametric discriminant analysis (NPDA) produced best probability forecasts (BSS)</a:t>
            </a:r>
          </a:p>
          <a:p>
            <a:r>
              <a:rPr lang="en-US" dirty="0"/>
              <a:t>BSS penalizes ML algorithms that overpredict or underpredict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27CB401B-50E9-0E66-A8EF-C0044EC134B5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D822B637-BC77-00DD-ECCC-63BFF2AD21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6BA03F37-7D08-92B1-B2D1-B66E1048C3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858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FDB146AA-73DD-369B-FA6B-D83C06BF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B02070A2-683E-05FB-4CEC-749DF48500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Approach evaluation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2920600E-5976-99B3-B609-643D3729D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Many groups computed same parameters, implementations differ significantly</a:t>
            </a:r>
          </a:p>
          <a:p>
            <a:pPr lvl="1"/>
            <a:r>
              <a:rPr lang="en-US" dirty="0"/>
              <a:t>Values for same parameter are substantially different</a:t>
            </a:r>
          </a:p>
          <a:p>
            <a:r>
              <a:rPr lang="en-US" dirty="0"/>
              <a:t>A major one is total unsigned magnetic flux of a region</a:t>
            </a:r>
          </a:p>
          <a:p>
            <a:pPr lvl="1"/>
            <a:r>
              <a:rPr lang="en-US" dirty="0"/>
              <a:t>Direct measure of region size</a:t>
            </a:r>
          </a:p>
          <a:p>
            <a:r>
              <a:rPr lang="en-US" dirty="0"/>
              <a:t>Main conclusions</a:t>
            </a:r>
          </a:p>
          <a:p>
            <a:pPr lvl="1"/>
            <a:r>
              <a:rPr lang="en-US" dirty="0"/>
              <a:t>Implementation details greatly influence resulting parameters values</a:t>
            </a:r>
          </a:p>
          <a:p>
            <a:pPr lvl="2"/>
            <a:r>
              <a:rPr lang="en-US" dirty="0"/>
              <a:t>Although surprisingly little difference in forecasting ability of quantities considered</a:t>
            </a:r>
          </a:p>
          <a:p>
            <a:pPr lvl="2"/>
            <a:r>
              <a:rPr lang="en-US" dirty="0"/>
              <a:t>Many parameters used are correlated with each other, bringing no independent information to forecasts</a:t>
            </a:r>
          </a:p>
          <a:p>
            <a:pPr lvl="1"/>
            <a:r>
              <a:rPr lang="en-US" dirty="0"/>
              <a:t>May be a limited amount of information available only using line-of-sight magnetic field without additional modeling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C1008E46-39B0-67D9-DABB-3DD09DFEE1BC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79D1D07D-2FEB-87EA-7AC7-C5D62BF842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4F0EC230-79E7-B4D2-4A3E-22D5E8ED489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4261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70329090-A0EB-425E-9FA5-B92EC76E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65DE188C-4863-D8F6-EE83-CA9419F92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Second meeting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AE341588-5695-A00C-4772-B0B88F8F4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New data from </a:t>
            </a:r>
            <a:r>
              <a:rPr lang="en-US" dirty="0" err="1"/>
              <a:t>Helioseismic</a:t>
            </a:r>
            <a:r>
              <a:rPr lang="en-US" dirty="0"/>
              <a:t> and Magnetic Imager (HMI) on Solar Dynamics Observatory (SDO)</a:t>
            </a:r>
          </a:p>
          <a:p>
            <a:pPr lvl="1"/>
            <a:r>
              <a:rPr lang="en-US" dirty="0"/>
              <a:t>Significantly improved data</a:t>
            </a:r>
          </a:p>
          <a:p>
            <a:r>
              <a:rPr lang="en-US" dirty="0"/>
              <a:t>This research comparison limited to those running in operational manner, providing forecast on routine, consistent basis</a:t>
            </a:r>
          </a:p>
          <a:p>
            <a:r>
              <a:rPr lang="en-US" dirty="0"/>
              <a:t>Not required to be automatic – “forecaster in the loop” (FITL)</a:t>
            </a:r>
          </a:p>
          <a:p>
            <a:r>
              <a:rPr lang="en-US" dirty="0"/>
              <a:t>Not Providing forecast on daily basis again penalized by eval metrics</a:t>
            </a:r>
          </a:p>
          <a:p>
            <a:r>
              <a:rPr lang="en-US" dirty="0"/>
              <a:t>Testing interval of 2016 Jan 1 – 2017 Dec 31</a:t>
            </a:r>
          </a:p>
          <a:p>
            <a:r>
              <a:rPr lang="en-US" dirty="0"/>
              <a:t>Event definitions – “C1.0+/0/24” </a:t>
            </a:r>
          </a:p>
          <a:p>
            <a:pPr lvl="1"/>
            <a:r>
              <a:rPr lang="en-US" dirty="0"/>
              <a:t>Thresholds, latency in hours, validity period in hours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56C64245-8726-CCE1-5C6E-724E51DE78C2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30C28C72-57B6-7880-B854-C0D922A18B4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E7CD4A18-26C2-3F85-A21B-096C6A50AB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8477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6351F5-DC1C-36DA-488D-A8288109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447977FB-0C75-6882-7826-95EFCB073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0ED9DC-2E86-9758-9280-E8E8AA299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250" y="1276350"/>
            <a:ext cx="7175500" cy="2590800"/>
          </a:xfrm>
          <a:prstGeom prst="rect">
            <a:avLst/>
          </a:prstGeom>
        </p:spPr>
      </p:pic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7E39E907-FC22-F939-05C0-DE46C4A1CF6D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6C535C6D-6B91-43BC-BEAF-0A416A6AC5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1B5DC20C-AC47-E1DF-DFD3-32A46AB399E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9522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E7D2627E-8005-F976-A765-77E2EE39F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03CC4576-26C6-369D-415D-C85EE5A677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Change in metric / skill score </a:t>
            </a:r>
            <a:r>
              <a:rPr lang="en-US" dirty="0" err="1"/>
              <a:t>P_threshold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4C134D90-4E98-5FC4-EAD1-ACB14CB3BD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These methods not explicitly optimized for particular probability threshold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/>
              <a:t>p_th</a:t>
            </a:r>
            <a:r>
              <a:rPr lang="en-US" dirty="0"/>
              <a:t> = 0.5</a:t>
            </a:r>
          </a:p>
          <a:p>
            <a:r>
              <a:rPr lang="en-US" dirty="0"/>
              <a:t>All methods missing forecasts were assigned p = 0</a:t>
            </a:r>
          </a:p>
          <a:p>
            <a:pPr lvl="1"/>
            <a:r>
              <a:rPr lang="en-US" dirty="0"/>
              <a:t>The penalty for not forecasting</a:t>
            </a:r>
          </a:p>
          <a:p>
            <a:r>
              <a:rPr lang="en-US" dirty="0"/>
              <a:t>The no-skill forecasts calculation</a:t>
            </a:r>
          </a:p>
          <a:p>
            <a:pPr lvl="1"/>
            <a:r>
              <a:rPr lang="en-US" dirty="0"/>
              <a:t>t = day</a:t>
            </a:r>
          </a:p>
          <a:p>
            <a:pPr lvl="1"/>
            <a:r>
              <a:rPr lang="en-US" dirty="0"/>
              <a:t>N = 120 days up to and including t -1</a:t>
            </a:r>
          </a:p>
          <a:p>
            <a:pPr lvl="1"/>
            <a:r>
              <a:rPr lang="en-US" dirty="0"/>
              <a:t>Used as reference forecast’s predicted probability for date t</a:t>
            </a:r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9021DFB9-221C-D2F9-FF1C-562C3D28F6CC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9C5374F8-261D-EAB0-DA6E-F159CB9C42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FED8A6F2-B110-F7FC-4582-396EC5F2E62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2405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B57E0534-6077-8E17-3F8E-58790A88C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F9675B8E-97A6-B333-6DAF-AC24A48DD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Comparison of ML – Not ML - FITL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1A688F-8360-D052-A3EA-B02494792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22" y="1070200"/>
            <a:ext cx="7772400" cy="3803721"/>
          </a:xfrm>
          <a:prstGeom prst="rect">
            <a:avLst/>
          </a:prstGeom>
        </p:spPr>
      </p:pic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6B2E0A87-388A-00D1-DCD5-BBAD30242FA4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F8CE057D-65CF-447C-93CD-C82653CA122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F69D5846-6648-4652-077E-0670ACB2B8B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8254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4F301954-0457-EAA5-80CF-40E18D01C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49366B7-4E45-A6E9-D455-5FCE57236A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Comparison of observational limits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2EC23B52-2693-6DD1-C174-9B92C2DF2250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E2E5AD90-0D88-7A7C-F905-5A60957468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4039B486-7B69-7C72-47AF-2C279D04B0F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766B7B-F888-71EA-26BE-50383764E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65" y="1051152"/>
            <a:ext cx="7060096" cy="3838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27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84C9914A-1A42-3642-9169-B79F111D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50E17985-C070-67BF-6D7B-6DDE3B5CC1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Comparison of persistence</a:t>
            </a:r>
            <a:endParaRPr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B61AF5F9-C65F-1F06-2C30-37FACF8C043B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BCCB1E28-D626-04A1-E641-7A3D4BAB3BA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9F87D4B8-046D-8C22-88BD-D7900EE1CE2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26F805B-A76F-FCCE-CB11-5C5BA8466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984" y="1017725"/>
            <a:ext cx="7108031" cy="384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187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ACA312D1-FF1D-51FE-DE41-65534F118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2EC733F-999A-4B2A-88DF-545805A170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122" name="Google Shape;122;p19">
            <a:extLst>
              <a:ext uri="{FF2B5EF4-FFF2-40B4-BE49-F238E27FC236}">
                <a16:creationId xmlns:a16="http://schemas.microsoft.com/office/drawing/2014/main" id="{57960C87-DF0D-67E2-1307-3DBD3D003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No trend present significantly outperforms others</a:t>
            </a:r>
          </a:p>
          <a:p>
            <a:r>
              <a:rPr lang="en-US" dirty="0"/>
              <a:t>Slight advantage to ML</a:t>
            </a:r>
          </a:p>
          <a:p>
            <a:r>
              <a:rPr lang="en-US" dirty="0"/>
              <a:t>Including FITL does appear to be better</a:t>
            </a:r>
          </a:p>
          <a:p>
            <a:pPr lvl="1"/>
            <a:r>
              <a:rPr lang="en-US" dirty="0"/>
              <a:t>Did not distinguish between ML / Non ML that use FITL</a:t>
            </a:r>
          </a:p>
          <a:p>
            <a:r>
              <a:rPr lang="en-US" dirty="0"/>
              <a:t>Disadvantage to using restricted</a:t>
            </a:r>
          </a:p>
          <a:p>
            <a:r>
              <a:rPr lang="en-US" dirty="0"/>
              <a:t>Advantage to using persistence / prior flare activity</a:t>
            </a:r>
          </a:p>
          <a:p>
            <a:pPr lvl="1"/>
            <a:r>
              <a:rPr lang="en-US" dirty="0"/>
              <a:t>They say they are different but did not differentiate</a:t>
            </a:r>
          </a:p>
          <a:p>
            <a:r>
              <a:rPr lang="en-US" dirty="0"/>
              <a:t>Use of modern data no significant impact</a:t>
            </a:r>
          </a:p>
          <a:p>
            <a:r>
              <a:rPr lang="en-US" dirty="0"/>
              <a:t>Not enough ML in operation and limit of sample sizes leads to no comment on any advantages or disadvantages of ML in operational flare forecasting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D68B31B1-F3BD-22C3-C9CC-FC14B890766E}"/>
              </a:ext>
            </a:extLst>
          </p:cNvPr>
          <p:cNvSpPr/>
          <p:nvPr/>
        </p:nvSpPr>
        <p:spPr>
          <a:xfrm>
            <a:off x="0" y="0"/>
            <a:ext cx="9144000" cy="449700"/>
          </a:xfrm>
          <a:prstGeom prst="rect">
            <a:avLst/>
          </a:prstGeom>
          <a:solidFill>
            <a:srgbClr val="BA0C2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4" name="Google Shape;124;p19" title="university logo-horizontal-1-line_WHTA.png">
            <a:extLst>
              <a:ext uri="{FF2B5EF4-FFF2-40B4-BE49-F238E27FC236}">
                <a16:creationId xmlns:a16="http://schemas.microsoft.com/office/drawing/2014/main" id="{182484DE-C633-E9A8-9C51-A80B3B5D2C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50" y="57150"/>
            <a:ext cx="4016783" cy="3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>
            <a:extLst>
              <a:ext uri="{FF2B5EF4-FFF2-40B4-BE49-F238E27FC236}">
                <a16:creationId xmlns:a16="http://schemas.microsoft.com/office/drawing/2014/main" id="{14A237E9-3252-512A-045F-165B262DE68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2825" y="38098"/>
            <a:ext cx="1100428" cy="37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59464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</TotalTime>
  <Words>1251</Words>
  <Application>Microsoft Macintosh PowerPoint</Application>
  <PresentationFormat>On-screen Show (16:9)</PresentationFormat>
  <Paragraphs>147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Arial</vt:lpstr>
      <vt:lpstr>Simple Light</vt:lpstr>
      <vt:lpstr>Comparison of Flare Forecasting Methods</vt:lpstr>
      <vt:lpstr>Focus of the workshop</vt:lpstr>
      <vt:lpstr>Data</vt:lpstr>
      <vt:lpstr>Data extraction</vt:lpstr>
      <vt:lpstr>Data extraction</vt:lpstr>
      <vt:lpstr>Event sample definitions</vt:lpstr>
      <vt:lpstr>Evaluation Methods – generalized skill score</vt:lpstr>
      <vt:lpstr>Evaluation methods – ApSS, HSS, TSS</vt:lpstr>
      <vt:lpstr>Measure of accuracy</vt:lpstr>
      <vt:lpstr>Probability thresholds</vt:lpstr>
      <vt:lpstr>Prediction methods</vt:lpstr>
      <vt:lpstr>Data subsets</vt:lpstr>
      <vt:lpstr>Data subsets - impact</vt:lpstr>
      <vt:lpstr>Model performance comparison</vt:lpstr>
      <vt:lpstr>Model performance comparison</vt:lpstr>
      <vt:lpstr>Approach evaluation</vt:lpstr>
      <vt:lpstr>Second meeting</vt:lpstr>
      <vt:lpstr>Data</vt:lpstr>
      <vt:lpstr>Change in metric / skill score P_threshold</vt:lpstr>
      <vt:lpstr>Comparison of ML – Not ML - FITL</vt:lpstr>
      <vt:lpstr>Comparison of observational limits</vt:lpstr>
      <vt:lpstr>Comparison of persistence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Garcia</cp:lastModifiedBy>
  <cp:revision>3</cp:revision>
  <dcterms:modified xsi:type="dcterms:W3CDTF">2025-11-17T23:34:21Z</dcterms:modified>
</cp:coreProperties>
</file>