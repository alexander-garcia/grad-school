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2" r:id="rId3"/>
    <p:sldId id="296" r:id="rId4"/>
    <p:sldId id="297" r:id="rId5"/>
    <p:sldId id="300" r:id="rId6"/>
    <p:sldId id="289" r:id="rId7"/>
    <p:sldId id="288" r:id="rId8"/>
    <p:sldId id="291" r:id="rId9"/>
    <p:sldId id="290" r:id="rId10"/>
    <p:sldId id="293" r:id="rId11"/>
    <p:sldId id="298" r:id="rId12"/>
    <p:sldId id="299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7"/>
    <p:restoredTop sz="88087"/>
  </p:normalViewPr>
  <p:slideViewPr>
    <p:cSldViewPr snapToGrid="0">
      <p:cViewPr varScale="1">
        <p:scale>
          <a:sx n="180" d="100"/>
          <a:sy n="180" d="100"/>
        </p:scale>
        <p:origin x="148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41261ADE-14D1-6C5A-4FC7-8A763F6DD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02B81890-6B9F-C3A2-5E79-4038CC1EE7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12453F77-0761-0855-5DCC-6FAAB4DF64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301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7196ECE-EB46-2B0B-F18A-32ED0912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318F4673-AF4D-5057-4F06-1216446F3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EC15E62B-DED1-50A8-004C-8F8E0BB9C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945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450ED5CC-A896-88F0-5C41-AC0E76B97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49A8A3B8-0DB4-D1A7-7F37-8A88C86C11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AD6347D0-E9DA-F041-2746-0650168E4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1205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BEC94A0-C073-1A0B-CBB9-B617D388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EB1EBFB4-2705-3A0F-7471-3BEF4B443A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60E8BE98-1CF9-9F8D-1557-BCF48A618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1351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2C23345-6C93-86C8-89F7-16ABBC81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AB7C880B-5957-753E-C995-2ECA5FD66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22B9B4B0-2B72-8C05-43A5-AD97A3BE0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467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B45F13C-A808-2857-1870-E5ADF57C1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0E6F7519-6AED-E5A6-0562-13031D505F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AAE280AD-86B0-0582-6B7A-B304E00BCA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14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C7CA743-B3B8-2BDD-07E9-3AA24B026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F78C7BB2-282A-01DE-D18A-200D6E6750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3184DC83-188E-35AD-9ABA-8AFC2DF9E1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9875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F795A1B6-F33A-D7B3-54D2-E91F3775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72185DB6-C88E-60F5-D875-8DEEFF4E4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53ECFE2E-19B9-5CE3-40EC-084E8F055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8842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80B43168-5531-3CF6-35A0-C59BDFA12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F2C95DB6-CC77-84B9-542F-85B9470D0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2B8EDFB6-7AA5-424A-B6AF-685BE4BFE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617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CFB422C-C1A4-D65F-B56D-AA413609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D9571407-F1BE-61AB-7982-FDBCF73C4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7B8114EA-5341-7497-C53B-064AB59A30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974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1150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3500" dirty="0"/>
              <a:t>Evaluating cost and imbalance ratio in </a:t>
            </a:r>
            <a:r>
              <a:rPr lang="en-US" sz="3500"/>
              <a:t>loss surfaces</a:t>
            </a:r>
            <a:endParaRPr sz="35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5296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98" dirty="0"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13" title="university logo-horizontal-1-line_WH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 stats</a:t>
            </a:r>
            <a:endParaRPr dirty="0"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Train – P1 – 1:57.6</a:t>
            </a:r>
          </a:p>
          <a:p>
            <a:r>
              <a:rPr lang="en-US" dirty="0"/>
              <a:t>Val – P2 – 1:62</a:t>
            </a:r>
          </a:p>
          <a:p>
            <a:r>
              <a:rPr lang="en-US" dirty="0"/>
              <a:t>Test – P3 – 1:28</a:t>
            </a:r>
          </a:p>
          <a:p>
            <a:r>
              <a:rPr lang="en-US" dirty="0"/>
              <a:t>40 features</a:t>
            </a:r>
          </a:p>
          <a:p>
            <a:r>
              <a:rPr lang="en-US" dirty="0"/>
              <a:t>Network -&gt; 40 – 16 – 16 – 1</a:t>
            </a:r>
          </a:p>
          <a:p>
            <a:r>
              <a:rPr lang="en-US" dirty="0"/>
              <a:t>BCE logit loss</a:t>
            </a:r>
          </a:p>
          <a:p>
            <a:r>
              <a:rPr lang="en-US" dirty="0"/>
              <a:t>80 epochs</a:t>
            </a:r>
          </a:p>
        </p:txBody>
      </p:sp>
      <p:sp>
        <p:nvSpPr>
          <p:cNvPr id="123" name="Google Shape;123;p19"/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3948E99-D807-4DE7-C8E7-2911E387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83D5E5BE-AC23-E124-D0E9-6E7780663E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Goal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DE06C129-8C63-38B5-89B4-67A58347C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Let r denote the class-imbalance ratio, and c denote the cost.</a:t>
            </a:r>
          </a:p>
          <a:p>
            <a:pPr lvl="1"/>
            <a:r>
              <a:rPr lang="en-US" dirty="0"/>
              <a:t>This cost is what domain experts give us.</a:t>
            </a:r>
          </a:p>
          <a:p>
            <a:pPr lvl="1"/>
            <a:r>
              <a:rPr lang="en-US" dirty="0"/>
              <a:t>We can assume any number to showcase its impact.</a:t>
            </a:r>
          </a:p>
          <a:p>
            <a:r>
              <a:rPr lang="en-US" dirty="0"/>
              <a:t>Use r as class weight to adjust the loss function. </a:t>
            </a:r>
          </a:p>
          <a:p>
            <a:pPr lvl="1"/>
            <a:r>
              <a:rPr lang="en-US" dirty="0"/>
              <a:t>We verify this by ensuring that the loss surface is un-warped back to when r=1.</a:t>
            </a:r>
          </a:p>
          <a:p>
            <a:r>
              <a:rPr lang="en-US" dirty="0"/>
              <a:t>Use c as class weight to further adjust the loss function.</a:t>
            </a:r>
          </a:p>
          <a:p>
            <a:pPr lvl="1"/>
            <a:r>
              <a:rPr lang="en-US" dirty="0"/>
              <a:t>This could be either added to r or subtracted from r. 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C1324937-AD06-8705-548D-A475834935B8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5F55F664-F991-BBAB-17D0-8FC0C70300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56942535-57BF-FB58-04D5-A8EDBBCE79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9428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A5680CAC-FACB-A5CA-D227-EE8F2DB9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428624CB-89F9-E831-3746-73BC372403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Recap on loss surface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86BFD34E-29D5-E193-FE00-430C7D907D72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00BC38C3-5895-0317-C93A-1A40D93A99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C40A80C0-BCCE-AC64-A258-A3355574249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0F5B00-1DF4-6E64-8CF5-87452A47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1342065"/>
            <a:ext cx="2776279" cy="27762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6BD13C-4606-B2DA-22BE-2EA44E4CB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9872" y="1342065"/>
            <a:ext cx="2776279" cy="27762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99754A-9B0E-9C81-9894-AE89525909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4751" y="1342064"/>
            <a:ext cx="2776280" cy="277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27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738D0F2-3B00-6BE4-1655-368E4F32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B1330DFA-741B-4C86-FBA3-75472ADD2B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Learning paths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3A888330-11EE-2C42-C9F0-4E8A5F038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With no weighting to counter the imbalance ratio, r, and no cost, c, the model favors TNR</a:t>
            </a:r>
          </a:p>
          <a:p>
            <a:r>
              <a:rPr lang="en-US" dirty="0"/>
              <a:t>Leaving r = 1 and simply adding a cost, c = 20, the goal is to push the model to the upper right hand corner and penalize misses more</a:t>
            </a:r>
          </a:p>
          <a:p>
            <a:r>
              <a:rPr lang="en-US" dirty="0"/>
              <a:t>Goal – find out values of r and c such that the model moves along the BCE surface toward the upper right hand corner while having favorable TSS and HSS values</a:t>
            </a:r>
          </a:p>
          <a:p>
            <a:r>
              <a:rPr lang="en-US" dirty="0"/>
              <a:t>Surfaces for loss are generated based on training set ratio and weight (if applied)</a:t>
            </a:r>
          </a:p>
          <a:p>
            <a:r>
              <a:rPr lang="en-US" dirty="0"/>
              <a:t>Surfaces for metrics and metric values are based on test set ratio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5A1AEE01-E5B3-8FAE-4E01-C0C83282FF22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8E3910D6-9D7F-B43B-1718-7D7EE517A6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B5DE534E-6812-715C-6A23-C7662C3E388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8349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36F157E9-C749-FEBC-F20F-035BEBB4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5AC6114C-2441-2EE6-DEFA-FB0C6E7A6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BCE learning paths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01D42ED9-1623-B6E9-D7B0-204DF97EBEA6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192D6966-C9A0-0A86-0A38-85BBAACC53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28346323-6BB0-9712-D237-6044F121ACF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CBFAB2-36FF-F69A-8CE5-FB9DD7EF09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61" y="1039072"/>
            <a:ext cx="3811354" cy="39634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BB747C-939C-20FD-FFD9-3F9170FB68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1208" y="1039072"/>
            <a:ext cx="3811354" cy="396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687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4470167-4CD0-A502-BEA9-1B377B0C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1BCD218A-C26D-F254-23D6-3F8A67D0AF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Validation loss 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976E5DF2-91DF-8781-2A0C-90D43DCC7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37E12A58-173F-78B1-BBAC-0B7DDE8D9E48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1978A6D0-B27D-3A16-0B2C-19B6000992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49968D25-0A36-A9D5-FF34-085E8252E6C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60B981-2F50-9D2B-75B9-2D3C186DC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593" y="1213676"/>
            <a:ext cx="4364407" cy="2777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B70056-D77B-152C-7763-72689BFEF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857" y="1213676"/>
            <a:ext cx="4379864" cy="277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90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56044922-1389-20FB-C43F-80B9CBCE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F510D02A-ED88-50A9-E027-3D3ACFE4F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BCE learning paths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62635EC1-9831-F7CD-05D7-1126F7D1A48F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E890A4E5-7B79-7802-43C5-51B3714893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C3B7C275-1B4C-7BFE-E0D2-94682CFCB10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72483A-39EF-88CF-89B1-06017E758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004" y="960031"/>
            <a:ext cx="3982859" cy="41418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27E986-0D33-E7D7-5931-5A0CDA1493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0136" y="1003085"/>
            <a:ext cx="3982859" cy="40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04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1A4F5C6-1194-BC83-A72D-B9D827134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EF221115-DF72-3D5B-87C9-1DB2A4B1A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Validation loss 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DDC60D26-DA4C-6A34-45CF-B358110BF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6687E7FF-C1C8-FBD6-1134-8B71B4CE3FF9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C2ACCFB8-9617-C684-763C-6241F1E0CC4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048FE62A-BEBF-6F7F-F619-320D27E9687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870E39-ADD7-FE4B-F61E-941C0E551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1523188"/>
            <a:ext cx="4164337" cy="26749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AF5963-7FFA-DEC8-71A1-0256A0E4D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8727" y="1523189"/>
            <a:ext cx="4233530" cy="267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62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7FA7619-F943-A283-103B-FDCCED75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EC8A05DE-41BA-AA09-2E0C-3BEE6D27B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TSS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6E768F4C-F65F-44B4-AA5B-236B4C1494CA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EF6B99E0-296A-E527-3540-5C2132D945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A7AB36BA-0B71-1A03-FA41-92C3EC423B5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D87BF3-4413-F145-C1C4-BDF97E455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50" y="894725"/>
            <a:ext cx="4197275" cy="4248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CF970F-E2AE-F0BC-76F5-DCB8951003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4222" y="1051153"/>
            <a:ext cx="4585628" cy="1925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449EC9-AC59-A99B-3F34-AEBA227957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4222" y="3061642"/>
            <a:ext cx="4604670" cy="17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2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EC3AECC-FA20-043E-DBB5-C2B46EB60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C1EF0D1F-1A37-886B-4D1E-71CD4E11F3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HSS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737AD7C9-D5CE-72F7-8BBB-C8CA5A5B2535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C425392B-C298-BD81-4BEB-1D74F37CF5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BCAD676B-7A45-D501-EB30-D476F054332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3B4559-3BD8-AD64-DFA4-B6D4A034A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222" y="1051153"/>
            <a:ext cx="4585628" cy="1925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F54AE7-6A15-2AB6-0CF8-1CE3BE56A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4222" y="3061642"/>
            <a:ext cx="4604670" cy="17323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41E1FC-9072-184A-C8AC-9DB3603C0A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09" y="894725"/>
            <a:ext cx="4145774" cy="424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40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CA08870-A7A0-8C84-3954-3D13CB1A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D90E5820-6B32-0EDE-8F84-CC047F4D91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Tau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6E6C06F1-0628-7570-14BB-F54814AA4769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125CE734-D572-D9CD-2AEC-BF69C42E626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1D4491CF-3B54-2840-FAA6-21D3F5DA003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C8B468-B405-F1FD-DF53-B74BE6BDA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222" y="1051153"/>
            <a:ext cx="4585628" cy="1925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24B833-7599-EC06-3B91-2C61540CEB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4222" y="3061642"/>
            <a:ext cx="4604670" cy="17323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4904F5E-6712-F770-7BD4-042CD09E48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151" y="894725"/>
            <a:ext cx="4145774" cy="424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651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5964</TotalTime>
  <Words>257</Words>
  <Application>Microsoft Macintosh PowerPoint</Application>
  <PresentationFormat>On-screen Show (16:9)</PresentationFormat>
  <Paragraphs>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Evaluating cost and imbalance ratio in loss surfaces</vt:lpstr>
      <vt:lpstr>Intro stats</vt:lpstr>
      <vt:lpstr>Goal</vt:lpstr>
      <vt:lpstr>Recap on loss surface</vt:lpstr>
      <vt:lpstr>Learning paths</vt:lpstr>
      <vt:lpstr>BCE learning paths</vt:lpstr>
      <vt:lpstr>Validation loss </vt:lpstr>
      <vt:lpstr>BCE learning paths</vt:lpstr>
      <vt:lpstr>Validation loss </vt:lpstr>
      <vt:lpstr>TSS</vt:lpstr>
      <vt:lpstr>HSS</vt:lpstr>
      <vt:lpstr>Tau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Garcia</cp:lastModifiedBy>
  <cp:revision>5</cp:revision>
  <dcterms:modified xsi:type="dcterms:W3CDTF">2025-12-08T19:44:09Z</dcterms:modified>
</cp:coreProperties>
</file>